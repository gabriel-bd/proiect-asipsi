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66" r:id="rId7"/>
    <p:sldId id="262" r:id="rId8"/>
    <p:sldId id="289" r:id="rId9"/>
    <p:sldId id="261" r:id="rId10"/>
    <p:sldId id="258" r:id="rId11"/>
    <p:sldId id="278" r:id="rId12"/>
    <p:sldId id="268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133" autoAdjust="0"/>
  </p:normalViewPr>
  <p:slideViewPr>
    <p:cSldViewPr snapToGrid="0">
      <p:cViewPr varScale="1">
        <p:scale>
          <a:sx n="100" d="100"/>
          <a:sy n="100" d="100"/>
        </p:scale>
        <p:origin x="1320" y="5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semestrul</a:t>
            </a:r>
            <a:r>
              <a:rPr lang="en-US" dirty="0"/>
              <a:t> </a:t>
            </a:r>
            <a:r>
              <a:rPr lang="en-US" dirty="0" err="1"/>
              <a:t>ăsta</a:t>
            </a:r>
            <a:r>
              <a:rPr lang="en-US" dirty="0"/>
              <a:t>, s-au </a:t>
            </a:r>
            <a:r>
              <a:rPr lang="en-US" dirty="0" err="1"/>
              <a:t>trecut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aproximativ</a:t>
            </a:r>
            <a:r>
              <a:rPr lang="en-US" dirty="0"/>
              <a:t> 30 de </a:t>
            </a:r>
            <a:r>
              <a:rPr lang="en-US" dirty="0" err="1"/>
              <a:t>versiuni</a:t>
            </a:r>
            <a:r>
              <a:rPr lang="en-US" dirty="0"/>
              <a:t> de </a:t>
            </a:r>
            <a:r>
              <a:rPr lang="en-US" dirty="0" err="1"/>
              <a:t>orar</a:t>
            </a:r>
            <a:r>
              <a:rPr lang="en-US" dirty="0"/>
              <a:t>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orar</a:t>
            </a:r>
            <a:r>
              <a:rPr lang="en-US" dirty="0"/>
              <a:t> correct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Printre</a:t>
            </a:r>
            <a:r>
              <a:rPr lang="en-US" dirty="0"/>
              <a:t> </a:t>
            </a:r>
            <a:r>
              <a:rPr lang="en-US" dirty="0" err="1"/>
              <a:t>factorii</a:t>
            </a:r>
            <a:r>
              <a:rPr lang="en-US" dirty="0"/>
              <a:t> de </a:t>
            </a:r>
            <a:r>
              <a:rPr lang="en-US" dirty="0" err="1"/>
              <a:t>eroare</a:t>
            </a:r>
            <a:r>
              <a:rPr lang="en-US" dirty="0"/>
              <a:t> </a:t>
            </a:r>
            <a:r>
              <a:rPr lang="en-US" dirty="0" err="1"/>
              <a:t>enumerăm</a:t>
            </a:r>
            <a:r>
              <a:rPr lang="en-US" dirty="0"/>
              <a:t> </a:t>
            </a:r>
            <a:r>
              <a:rPr lang="en-US" dirty="0" err="1"/>
              <a:t>săli</a:t>
            </a:r>
            <a:r>
              <a:rPr lang="en-US" dirty="0"/>
              <a:t>, </a:t>
            </a:r>
            <a:r>
              <a:rPr lang="en-US" dirty="0" err="1"/>
              <a:t>profesori</a:t>
            </a:r>
            <a:r>
              <a:rPr lang="en-US" dirty="0"/>
              <a:t> </a:t>
            </a:r>
            <a:r>
              <a:rPr lang="en-US" dirty="0" err="1"/>
              <a:t>alocați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2 </a:t>
            </a:r>
            <a:r>
              <a:rPr lang="en-US" dirty="0" err="1"/>
              <a:t>locuri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același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, o </a:t>
            </a:r>
            <a:r>
              <a:rPr lang="en-US" dirty="0" err="1"/>
              <a:t>grupă</a:t>
            </a:r>
            <a:r>
              <a:rPr lang="en-US" dirty="0"/>
              <a:t> e </a:t>
            </a:r>
            <a:r>
              <a:rPr lang="en-US" dirty="0" err="1"/>
              <a:t>alocată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locuri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Avertismentele</a:t>
            </a:r>
            <a:r>
              <a:rPr lang="en-US" dirty="0"/>
              <a:t> </a:t>
            </a:r>
            <a:r>
              <a:rPr lang="en-US" dirty="0" err="1"/>
              <a:t>oferite</a:t>
            </a:r>
            <a:r>
              <a:rPr lang="en-US" dirty="0"/>
              <a:t> de s</a:t>
            </a:r>
            <a:r>
              <a:rPr lang="ro-RO" dirty="0"/>
              <a:t>i</a:t>
            </a:r>
            <a:r>
              <a:rPr lang="en-US" dirty="0"/>
              <a:t>stem nu</a:t>
            </a:r>
            <a:r>
              <a:rPr lang="ro-RO" dirty="0"/>
              <a:t> blochează crearea orarului, sunt doar vizuale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92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ro-RO" dirty="0"/>
              <a:t>În principiu oferta pe piață este formată din produse mari, de tipul ERP, care includ mai multe module</a:t>
            </a:r>
          </a:p>
          <a:p>
            <a:pPr marL="171450" indent="-171450">
              <a:buFontTx/>
              <a:buChar char="-"/>
            </a:pPr>
            <a:r>
              <a:rPr lang="ro-RO" dirty="0"/>
              <a:t>În cadrul lucrării de licență se efectuează doar un astfel de modul</a:t>
            </a:r>
          </a:p>
          <a:p>
            <a:pPr marL="171450" indent="-171450">
              <a:buFontTx/>
              <a:buChar char="-"/>
            </a:pP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682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155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8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3025083"/>
            <a:ext cx="4941771" cy="2531959"/>
          </a:xfrm>
        </p:spPr>
        <p:txBody>
          <a:bodyPr/>
          <a:lstStyle/>
          <a:p>
            <a:r>
              <a:rPr lang="ro-RO" dirty="0"/>
              <a:t>Sistem informatic pentru afisarea si organizarea activitatilor didactice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ro-RO" dirty="0"/>
              <a:t>Badea Gabriel, AIA IV, Grupa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/>
          <a:lstStyle/>
          <a:p>
            <a:r>
              <a:rPr lang="ro-RO" dirty="0"/>
              <a:t>Motivatie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Organizarea activităților didactice este un proces lung, în care pot apărea foarte multe erori.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 are rolul de a reduce erorile la un minim prin oferirea unei interfețe simple de utilizat, care afișează avertismente.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ro-RO" dirty="0"/>
              <a:t>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ro-RO" dirty="0"/>
              <a:t>Produse existente pe piata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/>
          <a:lstStyle/>
          <a:p>
            <a:r>
              <a:rPr lang="ro-RO" dirty="0"/>
              <a:t>OpenEduCat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Open-source</a:t>
            </a:r>
          </a:p>
          <a:p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 mai mare, de tipul ERP</a:t>
            </a:r>
          </a:p>
          <a:p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Prețul variază în funcție de numărul de utilizatori, numărul de module</a:t>
            </a:r>
            <a:endParaRPr lang="en-US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/>
          <a:lstStyle/>
          <a:p>
            <a:r>
              <a:rPr lang="ro-RO" dirty="0"/>
              <a:t>Conexed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Closed-source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 ERP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Număr mai mare de funcționalități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Prețul este mai ridicat, se face o cerere la echipa de vânzări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o-RO" dirty="0"/>
              <a:t>OMNIFY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Closed-source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Integrare cu zoom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Oferă raportare și analitice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Prețul variază în funcție de numărul de utilizatori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ro-RO" dirty="0"/>
              <a:t>Tehnologii utilizate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o-RO" dirty="0"/>
              <a:t>PHP + Laravel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 este un limbaj de programare cu multă utilizare în domeniul web, aproximativ 70% din site-urile web utilizează PHP.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POSTGRESQL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Unul dintre cele mai folosite sisteme de management al bazelor de date relaționale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Livewire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addon pentru Laravel care oferă programarea reactivității interfețelor cu ajutorul PHP.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AlpineJS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librărie simplă de JavaScript care oferă multe funcționalități sub un pachet simplu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Picture 11" descr="A blue oval with black letters&#10;&#10;AI-generated content may be incorrect.">
            <a:extLst>
              <a:ext uri="{FF2B5EF4-FFF2-40B4-BE49-F238E27FC236}">
                <a16:creationId xmlns:a16="http://schemas.microsoft.com/office/drawing/2014/main" id="{315AD643-9720-71BC-B211-F9D6B92F5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56137">
            <a:off x="1384664" y="2239477"/>
            <a:ext cx="1000984" cy="5302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A red line art of a letter u&#10;&#10;AI-generated content may be incorrect.">
            <a:extLst>
              <a:ext uri="{FF2B5EF4-FFF2-40B4-BE49-F238E27FC236}">
                <a16:creationId xmlns:a16="http://schemas.microsoft.com/office/drawing/2014/main" id="{779AEAD7-9F0B-81D9-464D-452E13251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52905">
            <a:off x="4626311" y="2194045"/>
            <a:ext cx="738153" cy="7381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A blue elephant with black outline&#10;&#10;AI-generated content may be incorrect.">
            <a:extLst>
              <a:ext uri="{FF2B5EF4-FFF2-40B4-BE49-F238E27FC236}">
                <a16:creationId xmlns:a16="http://schemas.microsoft.com/office/drawing/2014/main" id="{F16CA0FF-30EF-94B9-A08A-A135E946A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36337">
            <a:off x="9626044" y="1811697"/>
            <a:ext cx="864556" cy="8645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 descr="A logo with a pink and blue face&#10;&#10;AI-generated content may be incorrect.">
            <a:extLst>
              <a:ext uri="{FF2B5EF4-FFF2-40B4-BE49-F238E27FC236}">
                <a16:creationId xmlns:a16="http://schemas.microsoft.com/office/drawing/2014/main" id="{07ACE4CE-FCD5-55B4-2672-F61903E6D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685323">
            <a:off x="1151542" y="5155378"/>
            <a:ext cx="1822079" cy="12881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 descr="A blue and black diamond shapes&#10;&#10;AI-generated content may be incorrect.">
            <a:extLst>
              <a:ext uri="{FF2B5EF4-FFF2-40B4-BE49-F238E27FC236}">
                <a16:creationId xmlns:a16="http://schemas.microsoft.com/office/drawing/2014/main" id="{F05771CD-1B11-794E-C2B9-73B847E6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69878">
            <a:off x="9804702" y="5288939"/>
            <a:ext cx="845793" cy="8457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156405"/>
            <a:ext cx="3809999" cy="1325563"/>
          </a:xfrm>
        </p:spPr>
        <p:txBody>
          <a:bodyPr>
            <a:normAutofit/>
          </a:bodyPr>
          <a:lstStyle/>
          <a:p>
            <a:r>
              <a:rPr lang="ro-RO" dirty="0"/>
              <a:t>Functionalitati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o-RO" dirty="0"/>
              <a:t>ORGANIZAREA DISCIPLINELOR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din XLSX / CSV, editarea acestora, asocierea profesorilor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INTERFATA DE ORGANIZARE ORAR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Ofera organizarea in disciplinelor pentru fiecare specializare, fiecare an.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VERSIONAREA ORARULUI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pot accesa versiuni vechi ale orarului, pentru trasabilitate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VIZUALIZARE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Studentul poate să vadă orarul pentru grupa lui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ro-RO" dirty="0"/>
              <a:t>ARHITECTURA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FRONTEND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/>
          <a:lstStyle/>
          <a:p>
            <a:r>
              <a:rPr lang="ro-RO" dirty="0"/>
              <a:t>BACKEND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/>
          <a:lstStyle/>
          <a:p>
            <a:r>
              <a:rPr lang="ro-RO" dirty="0"/>
              <a:t>BAZA DE DATE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/>
          <a:lstStyle/>
          <a:p>
            <a:r>
              <a:rPr lang="ro-RO" dirty="0"/>
              <a:t>SERVER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Modulul cu care va interacționa utilizatorul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Serverul central, care primește cereri de la frontend și care face modificări în baza de date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 de stocare a datelor din aplicație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Mașina fizică pe care rulează baza de date și backend-ul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ro-RO" dirty="0"/>
              <a:t>Organizarea proiectului cu agile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ro-RO" dirty="0"/>
              <a:t>ORGANIZARE AGILE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o-RO" noProof="1"/>
              <a:t>EPIC</a:t>
            </a:r>
            <a:endParaRPr lang="en-US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/>
          <a:p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Definește un modul al aplicației, care poate conține mai multe story-uri sau task-uri</a:t>
            </a:r>
            <a:endParaRPr lang="en-US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o-RO" noProof="1"/>
              <a:t>STORY</a:t>
            </a:r>
            <a:endParaRPr lang="en-US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/>
          <a:p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Definește o funcționalitate, din punctul de vedere al utilizatorului</a:t>
            </a:r>
            <a:endParaRPr lang="en-US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o-RO" noProof="1"/>
              <a:t>TASK / BUG</a:t>
            </a:r>
            <a:endParaRPr lang="en-US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/>
          <a:p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Definește o implementare concretă / un bug de rezolvat</a:t>
            </a:r>
            <a:endParaRPr lang="en-US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ro-RO" dirty="0"/>
              <a:t>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/>
          <a:lstStyle/>
          <a:p>
            <a:r>
              <a:rPr lang="ro-RO" dirty="0"/>
              <a:t>EPIC-uri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/>
          <a:lstStyle/>
          <a:p>
            <a:r>
              <a:rPr lang="ro-RO" dirty="0"/>
              <a:t>MODULUL DISCIPLINE / NOMENCLATOARE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discipline din XLSX /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Vizualizare și editare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Listă săli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Listă profesori</a:t>
            </a:r>
            <a:endParaRPr lang="en-US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/>
          <a:lstStyle/>
          <a:p>
            <a:r>
              <a:rPr lang="ro-RO" dirty="0"/>
              <a:t>MODUL ORAR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Interfața de creare a orarului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Versionarea orarului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Afișarea orarului pentru studenți</a:t>
            </a:r>
            <a:endParaRPr lang="en-US" noProof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/>
          <a:lstStyle/>
          <a:p>
            <a:r>
              <a:rPr lang="ro-RO" dirty="0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208020"/>
            <a:ext cx="5111750" cy="2423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 cu oferta de pe piață, sistemul proiectat ar fi doar un singur modul dintr-un sistem mai larg.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Există multe opțiuni de dezvoltare, cum ar fi organizarea examenelor, afișarea mediilor / notelor.</a:t>
            </a:r>
          </a:p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Digitalizarea organizării activităților didactice este esențială pentru a atinge o eficiență mai mare.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ro-RO" dirty="0"/>
              <a:t>Va multumesc!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</a:t>
            </a:r>
            <a:r>
              <a:rPr lang="ro-RO" dirty="0"/>
              <a:t>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ro-RO" dirty="0"/>
              <a:t>UTCB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1845F9-C5F4-4AA5-BA9E-EC2182E914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543</Words>
  <Application>Microsoft Office PowerPoint</Application>
  <PresentationFormat>Widescreen</PresentationFormat>
  <Paragraphs>107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Monoline</vt:lpstr>
      <vt:lpstr>Sistem informatic pentru afisarea si organizarea activitatilor didactice</vt:lpstr>
      <vt:lpstr>Motivatie</vt:lpstr>
      <vt:lpstr>Produse existente pe piata</vt:lpstr>
      <vt:lpstr>Tehnologii utilizate</vt:lpstr>
      <vt:lpstr>Functionalitati</vt:lpstr>
      <vt:lpstr>ARHITECTURA</vt:lpstr>
      <vt:lpstr>Organizarea proiectului cu agile</vt:lpstr>
      <vt:lpstr>ORGANIZARE AGILE</vt:lpstr>
      <vt:lpstr>EPIC-uri</vt:lpstr>
      <vt:lpstr>cONCLUZII</vt:lpstr>
      <vt:lpstr>Va multumesc!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Badea</dc:creator>
  <cp:lastModifiedBy>Gabriel BADEA</cp:lastModifiedBy>
  <cp:revision>5</cp:revision>
  <dcterms:created xsi:type="dcterms:W3CDTF">2023-07-24T01:11:48Z</dcterms:created>
  <dcterms:modified xsi:type="dcterms:W3CDTF">2025-04-15T12:26:31Z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